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6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3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0F0F5"/>
                </a:solidFill>
                <a:latin typeface="Calibri"/>
              </a:defRPr>
            </a:pPr>
            <a:r>
              <a:rPr lang="en-US" sz="1100" b="0" i="0" u="none" strike="noStrike">
                <a:solidFill>
                  <a:srgbClr val="F0F0F5"/>
                </a:solidFill>
                <a:latin typeface="Calibri"/>
              </a:rPr>
              <a:t>Feature usefulness (illustrative)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Variance explained</c:v>
                </c:pt>
              </c:strCache>
            </c:strRef>
          </c:tx>
          <c:spPr>
            <a:solidFill>
              <a:srgbClr val="1DB954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energy</c:v>
                </c:pt>
                <c:pt idx="1">
                  <c:v>loudness</c:v>
                </c:pt>
                <c:pt idx="2">
                  <c:v>danceability</c:v>
                </c:pt>
                <c:pt idx="3">
                  <c:v>acousticness</c:v>
                </c:pt>
                <c:pt idx="4">
                  <c:v>tempo</c:v>
                </c:pt>
                <c:pt idx="5">
                  <c:v>speechiness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0.85</c:v>
                </c:pt>
                <c:pt idx="1">
                  <c:v>0.82</c:v>
                </c:pt>
                <c:pt idx="2">
                  <c:v>0.71</c:v>
                </c:pt>
                <c:pt idx="3">
                  <c:v>0.68</c:v>
                </c:pt>
                <c:pt idx="4">
                  <c:v>0.45</c:v>
                </c:pt>
                <c:pt idx="5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2ED-463C-8CC7-7B3C6A638F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2A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A334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2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2438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A243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2326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80000">
            <a:off x="-457200" y="4023360"/>
            <a:ext cx="10515600" cy="1371600"/>
          </a:xfrm>
          <a:prstGeom prst="rect">
            <a:avLst/>
          </a:prstGeom>
          <a:solidFill>
            <a:srgbClr val="0E7A35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640080" cy="45720"/>
          </a:xfrm>
          <a:prstGeom prst="rect">
            <a:avLst/>
          </a:prstGeom>
          <a:solidFill>
            <a:srgbClr val="1DB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CMPS451 · Big Data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Music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System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40080" y="3154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user listening behavior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4160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18 · Cairo University, Faculty of Engineering</a:t>
            </a:r>
            <a:endParaRPr lang="en-US" sz="11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Mariam Elsoufy   ·   Shrouk El Taher   ·   Mostafa Abdelfattah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" cy="502920"/>
          </a:xfrm>
          <a:prstGeom prst="rect">
            <a:avLst/>
          </a:prstGeom>
          <a:solidFill>
            <a:srgbClr val="1DB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platforms host hundreds of millions of tracks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4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100M+</a:t>
            </a:r>
            <a:endParaRPr lang="en-US" sz="84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across catalogs today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1417320"/>
            <a:ext cx="4023360" cy="2286000"/>
          </a:xfrm>
          <a:prstGeom prst="rect">
            <a:avLst/>
          </a:prstGeom>
          <a:solidFill>
            <a:srgbClr val="1A2438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00600" y="1554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can't manually browse a catalog this size.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00600" y="210312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user's listening history, automatically suggest the next songs they'll actually enjoy — at scale.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4160520"/>
            <a:ext cx="54864" cy="502920"/>
          </a:xfrm>
          <a:prstGeom prst="rect">
            <a:avLst/>
          </a:prstGeom>
          <a:solidFill>
            <a:srgbClr val="1DB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41605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complementary approaches:  content similarity  +  collaborative filtering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" cy="502920"/>
          </a:xfrm>
          <a:prstGeom prst="rect">
            <a:avLst/>
          </a:prstGeom>
          <a:solidFill>
            <a:srgbClr val="1DB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at a Glance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Spotify-related datasets + the Million Song Dataset, unified with Apache Spark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2606040" cy="1463040"/>
          </a:xfrm>
          <a:prstGeom prst="rect">
            <a:avLst/>
          </a:prstGeom>
          <a:solidFill>
            <a:srgbClr val="1A2438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9.1M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user–song interactions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1463040"/>
            <a:ext cx="2606040" cy="1463040"/>
          </a:xfrm>
          <a:prstGeom prst="rect">
            <a:avLst/>
          </a:prstGeom>
          <a:solidFill>
            <a:srgbClr val="1A2438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20440" y="155448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2.4M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520440" y="22860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songs in catalog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2606040" cy="1463040"/>
          </a:xfrm>
          <a:prstGeom prst="rect">
            <a:avLst/>
          </a:prstGeom>
          <a:solidFill>
            <a:srgbClr val="1A2438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09360" y="155448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~75K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309360" y="22860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users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5204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Audio Features  ·  Dataset of Songs in Spotify  ·  Spotify Tracks Dataset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Ultimate Spotify Tracks DB  ·  Spotify Dataset 2023  ·  Million Song Dataset (1.8 GB+)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" cy="502920"/>
          </a:xfrm>
          <a:prstGeom prst="rect">
            <a:avLst/>
          </a:prstGeom>
          <a:solidFill>
            <a:srgbClr val="1DB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on Apache Spark / PySpark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508760" cy="1280160"/>
          </a:xfrm>
          <a:prstGeom prst="rect">
            <a:avLst/>
          </a:prstGeom>
          <a:solidFill>
            <a:srgbClr val="1A2438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+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67128" y="2318004"/>
            <a:ext cx="128016" cy="27432"/>
          </a:xfrm>
          <a:prstGeom prst="rect">
            <a:avLst/>
          </a:prstGeom>
          <a:solidFill>
            <a:srgbClr val="1DB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313432" y="1691640"/>
            <a:ext cx="1508760" cy="1280160"/>
          </a:xfrm>
          <a:prstGeom prst="rect">
            <a:avLst/>
          </a:prstGeom>
          <a:solidFill>
            <a:srgbClr val="1A2438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04872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359152" y="22860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+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40480" y="2318004"/>
            <a:ext cx="128016" cy="27432"/>
          </a:xfrm>
          <a:prstGeom prst="rect">
            <a:avLst/>
          </a:prstGeom>
          <a:solidFill>
            <a:srgbClr val="1DB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986784" y="1691640"/>
            <a:ext cx="1508760" cy="1280160"/>
          </a:xfrm>
          <a:prstGeom prst="rect">
            <a:avLst/>
          </a:prstGeom>
          <a:solidFill>
            <a:srgbClr val="1A2438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078224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032504" y="22860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13832" y="2318004"/>
            <a:ext cx="128016" cy="27432"/>
          </a:xfrm>
          <a:prstGeom prst="rect">
            <a:avLst/>
          </a:prstGeom>
          <a:solidFill>
            <a:srgbClr val="1DB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660136" y="1691640"/>
            <a:ext cx="1508760" cy="1280160"/>
          </a:xfrm>
          <a:prstGeom prst="rect">
            <a:avLst/>
          </a:prstGeom>
          <a:solidFill>
            <a:srgbClr val="1A2438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751576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705856" y="22860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187184" y="2318004"/>
            <a:ext cx="128016" cy="27432"/>
          </a:xfrm>
          <a:prstGeom prst="rect">
            <a:avLst/>
          </a:prstGeom>
          <a:solidFill>
            <a:srgbClr val="1DB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333488" y="1691640"/>
            <a:ext cx="1508760" cy="1280160"/>
          </a:xfrm>
          <a:prstGeom prst="rect">
            <a:avLst/>
          </a:prstGeom>
          <a:solidFill>
            <a:srgbClr val="1A2438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424928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379208" y="22860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3566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</a:t>
            </a:r>
            <a:r>
              <a:rPr lang="en-US" sz="12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DataFrame + MLlib pipelines  ·  </a:t>
            </a:r>
            <a:r>
              <a:rPr lang="en-US" sz="12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</a:t>
            </a:r>
            <a:r>
              <a:rPr lang="en-US" sz="12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(implicit feedback)  ·  </a:t>
            </a:r>
            <a:r>
              <a:rPr lang="en-US" sz="12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r>
              <a:rPr lang="en-US" sz="12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EDA  ·  </a:t>
            </a:r>
            <a:r>
              <a:rPr lang="en-US" sz="12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r>
              <a:rPr lang="en-US" sz="12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fast metric scoring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" cy="502920"/>
          </a:xfrm>
          <a:prstGeom prst="rect">
            <a:avLst/>
          </a:prstGeom>
          <a:solidFill>
            <a:srgbClr val="1DB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with Spark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parallel ingestion streams unified into a clean interaction matrix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2606040" cy="2103120"/>
          </a:xfrm>
          <a:prstGeom prst="rect">
            <a:avLst/>
          </a:prstGeom>
          <a:solidFill>
            <a:srgbClr val="1A2438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54864" cy="365760"/>
          </a:xfrm>
          <a:prstGeom prst="rect">
            <a:avLst/>
          </a:prstGeom>
          <a:solidFill>
            <a:srgbClr val="1DB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15727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4672" y="2057400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features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NA, dedup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1463040"/>
            <a:ext cx="2606040" cy="2103120"/>
          </a:xfrm>
          <a:prstGeom prst="rect">
            <a:avLst/>
          </a:prstGeom>
          <a:solidFill>
            <a:srgbClr val="1A2438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429000" y="1600200"/>
            <a:ext cx="54864" cy="365760"/>
          </a:xfrm>
          <a:prstGeom prst="rect">
            <a:avLst/>
          </a:prstGeom>
          <a:solidFill>
            <a:srgbClr val="1DB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93592" y="15727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93592" y="2057400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Playlists → plays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user/song IDs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counts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463040"/>
            <a:ext cx="2606040" cy="2103120"/>
          </a:xfrm>
          <a:prstGeom prst="rect">
            <a:avLst/>
          </a:prstGeom>
          <a:solidFill>
            <a:srgbClr val="1A2438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17920" y="1600200"/>
            <a:ext cx="54864" cy="365760"/>
          </a:xfrm>
          <a:prstGeom prst="rect">
            <a:avLst/>
          </a:prstGeom>
          <a:solidFill>
            <a:srgbClr val="1DB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82512" y="15727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82512" y="2057400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Triplets HDF5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1.8 GB subset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with songs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749040"/>
            <a:ext cx="7909560" cy="777240"/>
          </a:xfrm>
          <a:prstGeom prst="rect">
            <a:avLst/>
          </a:prstGeom>
          <a:solidFill>
            <a:srgbClr val="1A2438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8680" y="382219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split:  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920240" y="3822192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 /  10% validation  /  10% test</a:t>
            </a:r>
            <a:r>
              <a:rPr lang="en-US" sz="12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—      9.1M / 1.1M / 1.1M rows  (seed = 42, deterministic)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" cy="502920"/>
          </a:xfrm>
          <a:prstGeom prst="rect">
            <a:avLst/>
          </a:prstGeom>
          <a:solidFill>
            <a:srgbClr val="1DB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&amp; Visualization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plots across 6 audio-feature datasets — distribution + correlation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4114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and loudness are highly correlated — together they drive most of the perceived intensity.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Acousticness anti-correlates with energy — quieter tracks tend to be more acoustic.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is unevenly distributed — pop and rock dominate; long tail of niche genres.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numeric features are bounded [0, 1] — no further normalization needed.</a:t>
            </a:r>
            <a:endParaRPr lang="en-US" sz="11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937760" y="1417320"/>
          <a:ext cx="374904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" cy="502920"/>
          </a:xfrm>
          <a:prstGeom prst="rect">
            <a:avLst/>
          </a:prstGeom>
          <a:solidFill>
            <a:srgbClr val="1DB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Recommendation Approaches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and collaborative — different signals, different strengths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3931920" cy="3017520"/>
          </a:xfrm>
          <a:prstGeom prst="rect">
            <a:avLst/>
          </a:prstGeom>
          <a:solidFill>
            <a:srgbClr val="1A2438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54864" cy="411480"/>
          </a:xfrm>
          <a:prstGeom prst="rect">
            <a:avLst/>
          </a:prstGeom>
          <a:solidFill>
            <a:srgbClr val="1DB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5270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19202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68680" y="2286000"/>
            <a:ext cx="35661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song is a vector of audio features.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tracks whose vectors are closest in angle to the user's seed.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works for brand-new users (no listening history).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Limit: blind to taste signals not encoded in audio features.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417320"/>
            <a:ext cx="3931920" cy="3017520"/>
          </a:xfrm>
          <a:prstGeom prst="rect">
            <a:avLst/>
          </a:prstGeom>
          <a:solidFill>
            <a:srgbClr val="1A2438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554480"/>
            <a:ext cx="54864" cy="411480"/>
          </a:xfrm>
          <a:prstGeom prst="rect">
            <a:avLst/>
          </a:prstGeom>
          <a:solidFill>
            <a:srgbClr val="1DB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83480" y="15270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Matrix Factorization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83480" y="19202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FILTERING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83480" y="2286000"/>
            <a:ext cx="35661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latent vectors for users and songs from play counts.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preference = user vector · song vector.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discovers similarity from behavior — finds songs that 'fit together' even with different audio.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Limit: cold start — needs some history to recommend.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" cy="502920"/>
          </a:xfrm>
          <a:prstGeom prst="rect">
            <a:avLst/>
          </a:prstGeom>
          <a:solidFill>
            <a:srgbClr val="1DB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Rate @ 10 + MRR @ 10 with negative sampling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3931920" cy="3108960"/>
          </a:xfrm>
          <a:prstGeom prst="rect">
            <a:avLst/>
          </a:prstGeom>
          <a:solidFill>
            <a:srgbClr val="1A2438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score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87452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Pick a held-out (user, song) pair.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Build a 100-song candidate set: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1 real positive + 99 random negatives.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Score all 100 with the model.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Where did the positive land?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36576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B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HR@10  </a:t>
            </a:r>
            <a:r>
              <a:rPr lang="en-US" sz="1200" dirty="0">
                <a:solidFill>
                  <a:srgbClr val="F0F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in top 10?  (1 / 0)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DB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MRR@10 </a:t>
            </a:r>
            <a:r>
              <a:rPr lang="en-US" sz="1200" dirty="0">
                <a:solidFill>
                  <a:srgbClr val="F0F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1 / position  (or 0)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840480" cy="3108960"/>
          </a:xfrm>
          <a:prstGeom prst="rect">
            <a:avLst/>
          </a:prstGeom>
          <a:solidFill>
            <a:srgbClr val="1A2438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83480" y="1554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negative sampling?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874520"/>
            <a:ext cx="33832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against all 2.4 M songs makes the metric meaningless — even a great model gets ~0.03 because the haystack is too big.</a:t>
            </a:r>
            <a:endParaRPr lang="en-US" sz="11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99 negatives shrinks the pool to a 100-song quiz the model can actually answer:</a:t>
            </a:r>
            <a:endParaRPr lang="en-US" sz="11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luck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HR@10 ≈ 0.10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 recommender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HR@10 ≈ 0.40+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80000">
            <a:off x="-457200" y="-365760"/>
            <a:ext cx="10515600" cy="1371600"/>
          </a:xfrm>
          <a:prstGeom prst="rect">
            <a:avLst/>
          </a:prstGeom>
          <a:solidFill>
            <a:srgbClr val="0E7A35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-180000">
            <a:off x="-457200" y="4023360"/>
            <a:ext cx="10515600" cy="1371600"/>
          </a:xfrm>
          <a:prstGeom prst="rect">
            <a:avLst/>
          </a:prstGeom>
          <a:solidFill>
            <a:srgbClr val="0E7A35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640080" cy="45720"/>
          </a:xfrm>
          <a:prstGeom prst="rect">
            <a:avLst/>
          </a:prstGeom>
          <a:solidFill>
            <a:srgbClr val="1DB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CMPS451 · BIG DATA · TEAM 18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640080" y="3154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Mariam Elsoufy   ·   Shrouk El Taher   ·   Mostafa Abdelfattah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657</Words>
  <Application>Microsoft Office PowerPoint</Application>
  <PresentationFormat>On-screen Show (16:9)</PresentationFormat>
  <Paragraphs>120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Music Recommendation System</dc:title>
  <dc:subject>PptxGenJS Presentation</dc:subject>
  <dc:creator>Team 18 - Cairo University</dc:creator>
  <cp:lastModifiedBy>Mostafa Elkorashy</cp:lastModifiedBy>
  <cp:revision>2</cp:revision>
  <dcterms:created xsi:type="dcterms:W3CDTF">2026-05-05T03:51:34Z</dcterms:created>
  <dcterms:modified xsi:type="dcterms:W3CDTF">2026-05-05T03:52:50Z</dcterms:modified>
</cp:coreProperties>
</file>